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f2aeeaa05e418e" /><Relationship Type="http://schemas.openxmlformats.org/officeDocument/2006/relationships/extended-properties" Target="/docProps/app.xml" Id="R691c67699cd84f8a" /><Relationship Type="http://schemas.openxmlformats.org/officeDocument/2006/relationships/officeDocument" Target="/ppt/presentation.xml" Id="R034f0fa44b2343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f9f3e6822f4e81"/>
  </p:sldMasterIdLst>
  <p:notesMasterIdLst>
    <p:notesMasterId xmlns:r="http://schemas.openxmlformats.org/officeDocument/2006/relationships" r:id="Re04b2aae721d432e"/>
  </p:notesMasterIdLst>
  <p:sldIdLst>
    <p:sldId xmlns:r="http://schemas.openxmlformats.org/officeDocument/2006/relationships" id="256" r:id="R3e52da1cdc144ec2"/>
    <p:sldId xmlns:r="http://schemas.openxmlformats.org/officeDocument/2006/relationships" id="257" r:id="R44c6eaab4e7140b0"/>
    <p:sldId xmlns:r="http://schemas.openxmlformats.org/officeDocument/2006/relationships" id="258" r:id="R6fb2c1aa523e4b80"/>
    <p:sldId xmlns:r="http://schemas.openxmlformats.org/officeDocument/2006/relationships" id="259" r:id="R0d179bc821b94a1d"/>
    <p:sldId xmlns:r="http://schemas.openxmlformats.org/officeDocument/2006/relationships" id="260" r:id="Rfdb8c1189e7b454b"/>
    <p:sldId xmlns:r="http://schemas.openxmlformats.org/officeDocument/2006/relationships" id="261" r:id="R197d969fefe34c6c"/>
    <p:sldId xmlns:r="http://schemas.openxmlformats.org/officeDocument/2006/relationships" id="262" r:id="Rb8c35a4089564749"/>
    <p:sldId xmlns:r="http://schemas.openxmlformats.org/officeDocument/2006/relationships" id="263" r:id="R93be07bdcd134c58"/>
    <p:sldId xmlns:r="http://schemas.openxmlformats.org/officeDocument/2006/relationships" id="264" r:id="Re88c5e587c364784"/>
    <p:sldId xmlns:r="http://schemas.openxmlformats.org/officeDocument/2006/relationships" id="265" r:id="R1b4f1e73d9754f72"/>
    <p:sldId xmlns:r="http://schemas.openxmlformats.org/officeDocument/2006/relationships" id="266" r:id="Rb16f1cf06c8f40fc"/>
    <p:sldId xmlns:r="http://schemas.openxmlformats.org/officeDocument/2006/relationships" id="267" r:id="Reb9fe559df0a457b"/>
    <p:sldId xmlns:r="http://schemas.openxmlformats.org/officeDocument/2006/relationships" id="268" r:id="R18b203f9606d48d3"/>
    <p:sldId xmlns:r="http://schemas.openxmlformats.org/officeDocument/2006/relationships" id="269" r:id="R25577c22d2f042cd"/>
    <p:sldId xmlns:r="http://schemas.openxmlformats.org/officeDocument/2006/relationships" id="270" r:id="R51ea3b1604d345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907b9924804389" /><Relationship Type="http://schemas.openxmlformats.org/officeDocument/2006/relationships/slideMaster" Target="/ppt/slideMasters/slideMaster1.xml" Id="R15f9f3e6822f4e81" /><Relationship Type="http://schemas.openxmlformats.org/officeDocument/2006/relationships/notesMaster" Target="/ppt/notesMasters/notesMaster1.xml" Id="Re04b2aae721d432e" /><Relationship Type="http://schemas.openxmlformats.org/officeDocument/2006/relationships/presProps" Target="/ppt/presProps.xml" Id="Rba223a2329764d3f" /><Relationship Type="http://schemas.openxmlformats.org/officeDocument/2006/relationships/tableStyles" Target="/ppt/tableStyles.xml" Id="R1e15bc2118134428" /><Relationship Type="http://schemas.openxmlformats.org/officeDocument/2006/relationships/slide" Target="/ppt/slides/slide1.xml" Id="R3e52da1cdc144ec2" /><Relationship Type="http://schemas.openxmlformats.org/officeDocument/2006/relationships/slide" Target="/ppt/slides/slide2.xml" Id="R44c6eaab4e7140b0" /><Relationship Type="http://schemas.openxmlformats.org/officeDocument/2006/relationships/slide" Target="/ppt/slides/slide3.xml" Id="R6fb2c1aa523e4b80" /><Relationship Type="http://schemas.openxmlformats.org/officeDocument/2006/relationships/slide" Target="/ppt/slides/slide4.xml" Id="R0d179bc821b94a1d" /><Relationship Type="http://schemas.openxmlformats.org/officeDocument/2006/relationships/slide" Target="/ppt/slides/slide5.xml" Id="Rfdb8c1189e7b454b" /><Relationship Type="http://schemas.openxmlformats.org/officeDocument/2006/relationships/slide" Target="/ppt/slides/slide6.xml" Id="R197d969fefe34c6c" /><Relationship Type="http://schemas.openxmlformats.org/officeDocument/2006/relationships/slide" Target="/ppt/slides/slide7.xml" Id="Rb8c35a4089564749" /><Relationship Type="http://schemas.openxmlformats.org/officeDocument/2006/relationships/slide" Target="/ppt/slides/slide8.xml" Id="R93be07bdcd134c58" /><Relationship Type="http://schemas.openxmlformats.org/officeDocument/2006/relationships/slide" Target="/ppt/slides/slide9.xml" Id="Re88c5e587c364784" /><Relationship Type="http://schemas.openxmlformats.org/officeDocument/2006/relationships/slide" Target="/ppt/slides/slide10.xml" Id="R1b4f1e73d9754f72" /><Relationship Type="http://schemas.openxmlformats.org/officeDocument/2006/relationships/slide" Target="/ppt/slides/slide11.xml" Id="Rb16f1cf06c8f40fc" /><Relationship Type="http://schemas.openxmlformats.org/officeDocument/2006/relationships/slide" Target="/ppt/slides/slide12.xml" Id="Reb9fe559df0a457b" /><Relationship Type="http://schemas.openxmlformats.org/officeDocument/2006/relationships/slide" Target="/ppt/slides/slide13.xml" Id="R18b203f9606d48d3" /><Relationship Type="http://schemas.openxmlformats.org/officeDocument/2006/relationships/slide" Target="/ppt/slides/slide14.xml" Id="R25577c22d2f042cd" /><Relationship Type="http://schemas.openxmlformats.org/officeDocument/2006/relationships/slide" Target="/ppt/slides/slide15.xml" Id="R51ea3b1604d345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b0eb974a924d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0ad837bcea4e86" /><Relationship Type="http://schemas.openxmlformats.org/officeDocument/2006/relationships/notesMaster" Target="/ppt/notesMasters/notesMaster1.xml" Id="R2bd81306bc0743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00cc0504e54a1a" /><Relationship Type="http://schemas.openxmlformats.org/officeDocument/2006/relationships/notesMaster" Target="/ppt/notesMasters/notesMaster1.xml" Id="R2a66a8e196504b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f07e8e076447c0" /><Relationship Type="http://schemas.openxmlformats.org/officeDocument/2006/relationships/notesMaster" Target="/ppt/notesMasters/notesMaster1.xml" Id="R7303329d058242d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5dbccf2a604172" /><Relationship Type="http://schemas.openxmlformats.org/officeDocument/2006/relationships/notesMaster" Target="/ppt/notesMasters/notesMaster1.xml" Id="R8da74054d65d47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9264943b224ca4" /><Relationship Type="http://schemas.openxmlformats.org/officeDocument/2006/relationships/notesMaster" Target="/ppt/notesMasters/notesMaster1.xml" Id="R99c5cde6be754b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95440e5ddc4f1c" /><Relationship Type="http://schemas.openxmlformats.org/officeDocument/2006/relationships/notesMaster" Target="/ppt/notesMasters/notesMaster1.xml" Id="R15ad214897d441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86d256020c4a71" /><Relationship Type="http://schemas.openxmlformats.org/officeDocument/2006/relationships/notesMaster" Target="/ppt/notesMasters/notesMaster1.xml" Id="R8d65ecc0bbaf4f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14bac3ed4f4d4a" /><Relationship Type="http://schemas.openxmlformats.org/officeDocument/2006/relationships/notesMaster" Target="/ppt/notesMasters/notesMaster1.xml" Id="R9dccb043137145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7e930814744b15" /><Relationship Type="http://schemas.openxmlformats.org/officeDocument/2006/relationships/notesMaster" Target="/ppt/notesMasters/notesMaster1.xml" Id="R4761986c7531415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d543c6ba584a9d" /><Relationship Type="http://schemas.openxmlformats.org/officeDocument/2006/relationships/notesMaster" Target="/ppt/notesMasters/notesMaster1.xml" Id="Rac30c4c63e5244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7a65ff313f84646" /><Relationship Type="http://schemas.openxmlformats.org/officeDocument/2006/relationships/notesMaster" Target="/ppt/notesMasters/notesMaster1.xml" Id="R11ebd16275f144a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abd57d01a8d47ff" /><Relationship Type="http://schemas.openxmlformats.org/officeDocument/2006/relationships/notesMaster" Target="/ppt/notesMasters/notesMaster1.xml" Id="R5b3ee903d8bc47b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8eebee912844c16" /><Relationship Type="http://schemas.openxmlformats.org/officeDocument/2006/relationships/notesMaster" Target="/ppt/notesMasters/notesMaster1.xml" Id="R1df4ad2b80944c1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5eaf7f4bfc34045" /><Relationship Type="http://schemas.openxmlformats.org/officeDocument/2006/relationships/notesMaster" Target="/ppt/notesMasters/notesMaster1.xml" Id="R4748e61588df40e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b673ead66da49a5" /><Relationship Type="http://schemas.openxmlformats.org/officeDocument/2006/relationships/notesMaster" Target="/ppt/notesMasters/notesMaster1.xml" Id="Rd13987dc54d94a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Mở đầu: cửa hàng có dữ liệu giao dịch nhưng cần cách đọc thống nhất về xu hướng, khách hàng và sản phẩm thường mua cùng nhau.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 câu hỏi của dự án: doanh thu thay đổi ra sao; khách có mua lại không; sản phẩm nào thường cùng xuất hiện trong giỏ.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Luồng xử lý: giao dịch, chuẩn hóa, tạo đặc trưng, phân tích, trình bày. Công cụ chính: Python, Pandas, DuckDB, scikit-learn, mlxtend, Streamlit.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là Pancake POS. 12.011 là số đơn trong snapshot; 6.517 là số đơn trong phạm vi DEV; trong đó 6.400 đơn có status 3.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Các bảng đơn, khách và sản phẩm được nối trong kho DuckDB. Định danh được giả danh hóa; dashboard dùng bảng tổng hợp.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Retention 180 ngày là 10,40% trong cohort đủ theo dõi. CLV 512.934 đồng/khách là doanh thu lịch sử 180 ngày đầu, không phải dự báo hay lợi nhuận.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RFM gồm Recency, Frequency và Monetary. K-Means K=2 chủ yếu tách khách mua một lần và mua lặp lại; đây là mô tả hành vi.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Logistic Regression dùng đặc trưng lịch sử để tạo xác suất mua lại trong 180 ngày sau mốc T.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Đặc trưng được tính trước T; nhãn được suy ra từ giao dịch hợp lệ trong 180 ngày sau T. Đánh giá chia theo thời gian.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FP-Growth tìm cặp/tập sản phẩm thường cùng có trong giỏ. Support, confidence và lift đo tần suất liên hệ, không chứng minh nhân quả.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Các cặp sản phẩm được xếp theo tần suất và mức đồng xuất hiện; có thể gợi ý bundle hoặc cách trưng bày để cân nhắc.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Dashboard gồm tổng quan, phân khúc, combo, chất lượng dữ liệu và mô hình mua lại.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Đầu ra gồm kho phân tích, kết quả khách hàng/giỏ hàng, mô hình thử nghiệm, dashboard, báo cáo và slide.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theo thứ tự tổng quan doanh số, phân khúc khách, combo. Mở tab mô hình nếu giảng viên hỏi về ML.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Dự án biến dữ liệu giao dịch thành phân tích và dashboard. Các kết quả giúp hiểu dữ liệu và hình thành giả thuyết. Mời thầy cô đặt câu hỏi.</a:t>
            </a:r>
          </a:p>
          <a:p xmlns:a="http://schemas.openxmlformats.org/drawingml/2006/main">
            <a:r>
              <a:t>
              </a:t>
            </a:r>
          </a:p>
          <a:p xmlns:a="http://schemas.openxmlformats.org/drawingml/2006/main">
            <a:r>
              <a:t>
             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76193f593d41a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f0c6acadf3486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e49ec3678f425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09b6c0d983494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8cc3dfe85d4cd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81609b263942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E7D83B-3EA4-4C1E-AD65-E59D54E23C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6E402C0-E779-4E7B-9327-680829E7A55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DAABF63-E250-420E-B8F1-3F7DB3AB94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9AE731A-25A4-43E7-A33B-09BF3BCFFC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F1ABD55-2206-487D-A687-DF54CC5841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2C2E918-6C78-4EFE-B4D5-E46D5E1D6A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BE10570-7241-4721-B15E-D4701163A3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1CCA465-C4A2-4508-A35F-C0A97C0362F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EA1AB3A-23DD-4BAD-B06F-864AE8C258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1031D19-BFEB-4853-A0C4-9AC113C1FD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29a075ebfd47a9" /><Relationship Type="http://schemas.openxmlformats.org/officeDocument/2006/relationships/slideLayout" Target="/ppt/slideLayouts/slideLayout1.xml" Id="R1f28731e4ec24949" /><Relationship Type="http://schemas.openxmlformats.org/officeDocument/2006/relationships/slideLayout" Target="/ppt/slideLayouts/slideLayout2.xml" Id="R9462b0d5a8c649f1" /><Relationship Type="http://schemas.openxmlformats.org/officeDocument/2006/relationships/slideLayout" Target="/ppt/slideLayouts/slideLayout3.xml" Id="R452e20b1ebf84eb2" /><Relationship Type="http://schemas.openxmlformats.org/officeDocument/2006/relationships/slideLayout" Target="/ppt/slideLayouts/slideLayout4.xml" Id="R7f09f02068b8431e" /><Relationship Type="http://schemas.openxmlformats.org/officeDocument/2006/relationships/slideLayout" Target="/ppt/slideLayouts/slideLayout5.xml" Id="R62cb405248d14509" /><Relationship Type="http://schemas.openxmlformats.org/officeDocument/2006/relationships/slideLayout" Target="/ppt/slideLayouts/slideLayout6.xml" Id="R054533cb3b884f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28731e4ec24949"/>
    <p:sldLayoutId xmlns:r="http://schemas.openxmlformats.org/officeDocument/2006/relationships" id="2147483650" r:id="R9462b0d5a8c649f1"/>
    <p:sldLayoutId xmlns:r="http://schemas.openxmlformats.org/officeDocument/2006/relationships" id="2147483651" r:id="R452e20b1ebf84eb2"/>
    <p:sldLayoutId xmlns:r="http://schemas.openxmlformats.org/officeDocument/2006/relationships" id="2147483652" r:id="R7f09f02068b8431e"/>
    <p:sldLayoutId xmlns:r="http://schemas.openxmlformats.org/officeDocument/2006/relationships" id="2147483653" r:id="R62cb405248d14509"/>
    <p:sldLayoutId xmlns:r="http://schemas.openxmlformats.org/officeDocument/2006/relationships" id="2147483654" r:id="R054533cb3b884f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7b599bbc7f443b" /><Relationship Type="http://schemas.openxmlformats.org/officeDocument/2006/relationships/notesSlide" Target="/ppt/notesSlides/notesSlide1.xml" Id="Rdcb0e28915d94d1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cc3787285140d7" /><Relationship Type="http://schemas.openxmlformats.org/officeDocument/2006/relationships/notesSlide" Target="/ppt/notesSlides/notesSlide2.xml" Id="R8937999220944d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9469d4c4974776" /><Relationship Type="http://schemas.openxmlformats.org/officeDocument/2006/relationships/notesSlide" Target="/ppt/notesSlides/notesSlide3.xml" Id="Rbffb71b4aa5e4d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4b7106c3074711" /><Relationship Type="http://schemas.openxmlformats.org/officeDocument/2006/relationships/notesSlide" Target="/ppt/notesSlides/notesSlide4.xml" Id="Re15296775ea04a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2676ed7c4c4aeb" /><Relationship Type="http://schemas.openxmlformats.org/officeDocument/2006/relationships/notesSlide" Target="/ppt/notesSlides/notesSlide5.xml" Id="R30a8eddcfff14a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d064bd67e64553" /><Relationship Type="http://schemas.openxmlformats.org/officeDocument/2006/relationships/notesSlide" Target="/ppt/notesSlides/notesSlide6.xml" Id="Rc4552a523e8b476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7ba4f11d9b40c3" /><Relationship Type="http://schemas.openxmlformats.org/officeDocument/2006/relationships/notesSlide" Target="/ppt/notesSlides/notesSlide7.xml" Id="Rb1527274981340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a617c9c2804122" /><Relationship Type="http://schemas.openxmlformats.org/officeDocument/2006/relationships/notesSlide" Target="/ppt/notesSlides/notesSlide8.xml" Id="Rc1d355b4a59a41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fba4a9411b4923" /><Relationship Type="http://schemas.openxmlformats.org/officeDocument/2006/relationships/notesSlide" Target="/ppt/notesSlides/notesSlide9.xml" Id="R870770fd0cd545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68ac805c324ede" /><Relationship Type="http://schemas.openxmlformats.org/officeDocument/2006/relationships/notesSlide" Target="/ppt/notesSlides/notesSlide10.xml" Id="R3b13bd365bf64e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c4322d9da84cff" /><Relationship Type="http://schemas.openxmlformats.org/officeDocument/2006/relationships/notesSlide" Target="/ppt/notesSlides/notesSlide11.xml" Id="R7b698b824a0443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c80cde091b4872" /><Relationship Type="http://schemas.openxmlformats.org/officeDocument/2006/relationships/notesSlide" Target="/ppt/notesSlides/notesSlide12.xml" Id="R01a5a8b41899401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1173e90ff245ae" /><Relationship Type="http://schemas.openxmlformats.org/officeDocument/2006/relationships/notesSlide" Target="/ppt/notesSlides/notesSlide13.xml" Id="R2b36d66f65d745b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c2528d557a4d77" /><Relationship Type="http://schemas.openxmlformats.org/officeDocument/2006/relationships/notesSlide" Target="/ppt/notesSlides/notesSlide14.xml" Id="R258d1f1d698b445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38641ea9f94427" /><Relationship Type="http://schemas.openxmlformats.org/officeDocument/2006/relationships/notesSlide" Target="/ppt/notesSlides/notesSlide15.xml" Id="R69190e77b03143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3D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EA35E7-240F-408D-87CE-1B5BC715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64B"/>
          </a:solidFill>
          <a:ln xmlns:a="http://schemas.openxmlformats.org/drawingml/2006/main" w="9525">
            <a:solidFill>
              <a:srgbClr val="E3A64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CAC64F-C05E-4CBC-9A49-F653B64B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810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9DED5"/>
                </a:solidFill>
                <a:latin typeface="Arial"/>
                <a:ea typeface="Arial"/>
                <a:cs typeface="Arial"/>
              </a:rPr>
              <a:t>BÁO CÁO DỰ 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C86970-07F9-4DDD-AEDF-BCA1BF68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9620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Kho dữ liệu và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khai phá dữ liệu bán hàng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566F48-D442-4927-9C03-68885439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512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3A98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E089AE-88E3-4BA3-AB76-65BE919E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57625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Xoaif Garden  |  Pancake POS  |  Python · DuckDB · scikit-learn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AE5D95-D942-4365-8C5F-3CDE904A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923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9DED5"/>
                </a:solidFill>
                <a:latin typeface="Arial"/>
                <a:ea typeface="Arial"/>
                <a:cs typeface="Arial"/>
              </a:rPr>
              <a:t>Kết quả, cách vận hành và giới hạn được trình bày cùng nhau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0F8845-AB46-40DF-A3FE-E878FD21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72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9DED5"/>
                </a:solidFill>
                <a:latin typeface="Arial"/>
                <a:ea typeface="Arial"/>
                <a:cs typeface="Arial"/>
              </a:rPr>
              <a:t>Bản bảo vệ cuối kỳ</a:t>
            </a:r>
          </a:p>
        </p:txBody>
      </p:sp>
    </p:spTree>
    <p:extLst>
      <p:ext uri="{BB962C8B-B14F-4D97-AF65-F5344CB8AC3E}">
        <p14:creationId xmlns:p14="http://schemas.microsoft.com/office/powerpoint/2010/main" val="20232262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16D0A6-2CEB-4B72-855F-22471C0F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6F7129-44E4-418C-8DD8-70E611D4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MỤC TIÊU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6B9ADE-5C4D-4E20-A395-C7488EFC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Từ dữ liệu bán hàng đến câu trả lời kinh doanh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0C563-E5C8-4B63-A4C1-10BBA2E7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39F451-FEFA-4682-A635-E85C2CBF2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0FD462-51F4-40BD-9B82-DE320BE6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0C8834-5944-430B-B83E-E631539F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38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64B"/>
          </a:solidFill>
          <a:ln xmlns:a="http://schemas.openxmlformats.org/drawingml/2006/main" w="9525">
            <a:solidFill>
              <a:srgbClr val="E3A64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1656D8-B323-46C4-825E-68131D34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43100"/>
            <a:ext cx="10020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Khách hàng mua như thế nào và có tín hiệu mua lại không?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E00F41-B9DC-454F-84D7-0FB72B47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051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64B"/>
          </a:solidFill>
          <a:ln xmlns:a="http://schemas.openxmlformats.org/drawingml/2006/main" w="9525">
            <a:solidFill>
              <a:srgbClr val="E3A6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5B6354-3169-4596-A642-DEB87D03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9900"/>
            <a:ext cx="10020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Sản phẩm nào thường cùng xuất hiện trong một giỏ hàng?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C16D25-5F1B-49E3-A9E0-7169AE90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64B"/>
          </a:solidFill>
          <a:ln xmlns:a="http://schemas.openxmlformats.org/drawingml/2006/main" w="9525">
            <a:solidFill>
              <a:srgbClr val="E3A64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A102AD-D5F0-44AA-B40F-E52A1942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10020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Xu hướng doanh thu thay đổi ra sao theo thời gian?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4C87AD-4299-436B-AC57-E6442EB6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Kết quả giúp mô tả khách hàng và gợi ý sản phẩm thường mua cùng nhau.</a:t>
            </a:r>
          </a:p>
        </p:txBody>
      </p:sp>
    </p:spTree>
    <p:extLst>
      <p:ext uri="{BB962C8B-B14F-4D97-AF65-F5344CB8AC3E}">
        <p14:creationId xmlns:p14="http://schemas.microsoft.com/office/powerpoint/2010/main" val="6948002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77C057-9EE9-47AD-A341-51908AD4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55D3F4-6D88-4282-A7E9-57130C6B9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KIẾN TRÚC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586932-C7BA-4CBA-B95B-55467F07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Quy trình phân tích dữ liệu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4BD50-BF48-4575-8077-4C871305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1696D4-B034-40C8-9316-31163FA3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D092E-8676-4673-B27A-2C4990C4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8D3CFA-7A28-47B2-9E70-DED86FB2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18669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8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8EFDF6-36D5-4F13-B403-B2063739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1  Dữ liệu bán hàng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172A42-4D21-4891-836A-DABADA5F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1600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Pancake POS</a:t>
            </a:r>
          </a:p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API GET-only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6FF62-F71A-4622-9FFE-35514E35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009900"/>
            <a:ext cx="5334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A98F"/>
          </a:solidFill>
          <a:ln xmlns:a="http://schemas.openxmlformats.org/drawingml/2006/main" w="9525">
            <a:solidFill>
              <a:srgbClr val="73A9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D61085-D444-489C-8A2F-19AF8282F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19350"/>
            <a:ext cx="18669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8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5DE3CD-C128-45A9-B86A-C574B91B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6289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2  Chuẩn hóa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85DB68-C5FA-402B-9C03-EC8BB3D1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105150"/>
            <a:ext cx="1600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Snapshot</a:t>
            </a:r>
          </a:p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manifest + hash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8AF3A5-CA0A-41E0-9609-AB642DFB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009900"/>
            <a:ext cx="5334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A98F"/>
          </a:solidFill>
          <a:ln xmlns:a="http://schemas.openxmlformats.org/drawingml/2006/main" w="9525">
            <a:solidFill>
              <a:srgbClr val="73A98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ECCBB3-0562-4AFB-BDDD-403C6AAC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19350"/>
            <a:ext cx="18669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C"/>
          </a:solidFill>
          <a:ln xmlns:a="http://schemas.openxmlformats.org/drawingml/2006/main" w="9525">
            <a:solidFill>
              <a:srgbClr val="CAD8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FDFC79-A5C2-4E5A-8F2A-C549D01B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6289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3  Tạo đặc trưng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2E404D-E384-40BE-B9ED-CF1DDDDA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105150"/>
            <a:ext cx="1600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HMAC · DuckDB</a:t>
            </a:r>
          </a:p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Pandas · feature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94F0F9-949B-4531-9CDA-8C490BB6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009900"/>
            <a:ext cx="5334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A98F"/>
          </a:solidFill>
          <a:ln xmlns:a="http://schemas.openxmlformats.org/drawingml/2006/main" w="9525">
            <a:solidFill>
              <a:srgbClr val="73A98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C36CF1-DD16-4F5E-B1EF-C5D57E50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419350"/>
            <a:ext cx="18669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8D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D80523-5E1F-4572-ABE3-BE03B16E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289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4  Phân tích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331924-9469-4CD1-8F22-8CD47018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105150"/>
            <a:ext cx="1600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RFM · LR</a:t>
            </a:r>
          </a:p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FP-Growth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B30438-246F-4F6B-BE36-39D5CAC8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3009900"/>
            <a:ext cx="5334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A98F"/>
          </a:solidFill>
          <a:ln xmlns:a="http://schemas.openxmlformats.org/drawingml/2006/main" w="9525">
            <a:solidFill>
              <a:srgbClr val="73A98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2F5F22-FF4B-4D93-AF8C-003E3F988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419350"/>
            <a:ext cx="18669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8D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741685-4A32-44AF-80C9-7AD5E7E0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289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5  Trình bày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3FEC95-11B4-47C2-8159-F2C381C2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105150"/>
            <a:ext cx="1600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Aggregate</a:t>
            </a:r>
          </a:p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Dashboard · PDF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773833-1734-4E42-8964-5F23CD80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863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Dữ liệu được chuẩn hóa trước phân tích; báo cáo và dashboard trình bày kết quả tổng hợp.</a:t>
            </a:r>
          </a:p>
        </p:txBody>
      </p:sp>
    </p:spTree>
    <p:extLst>
      <p:ext uri="{BB962C8B-B14F-4D97-AF65-F5344CB8AC3E}">
        <p14:creationId xmlns:p14="http://schemas.microsoft.com/office/powerpoint/2010/main" val="10762509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ACCDA6-20E4-462E-A388-9DCFD370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DDA810-BA3E-4E93-BF1C-C2670917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0B4435-1CB6-47D4-B970-C19C7C58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Phạm vi dữ liệu phân tích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E9B862-F0B1-4946-95FC-3BD1B29F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1635BD-AB0F-4C68-8147-AE61B24F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05763C-67A1-49BE-A551-7AE9D5D4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C0BBE7-C76C-44C2-8E78-CFDA3E8C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90750"/>
            <a:ext cx="285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43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43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43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43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43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43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43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43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43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43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12.011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7534E8-7CBC-47B9-9CA6-381CF581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đơn trong snapshot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5B693-45A4-4C8B-842F-63C34720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81250"/>
            <a:ext cx="2857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8D2"/>
          </a:solidFill>
          <a:ln xmlns:a="http://schemas.openxmlformats.org/drawingml/2006/main" w="9525">
            <a:solidFill>
              <a:srgbClr val="CAD8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C1D2C8-255D-46CF-AC3E-E51EB49A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85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4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4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4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4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4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4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4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4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4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4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6.517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57A784-E80A-4602-9C6D-E8E43E97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527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đơn trong DEV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B45095-E096-4EE2-BC55-C6A71BE8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67125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7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6.400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844572-ADD3-43D6-9EEA-42E0C6A1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52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đơn status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86A00D-DAA2-4820-BA5B-7730215D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62500"/>
            <a:ext cx="9763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8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00C3BC-14BB-484B-980C-94225737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101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4332F"/>
                </a:solidFill>
                <a:latin typeface="Arial"/>
                <a:ea typeface="Arial"/>
                <a:cs typeface="Arial"/>
              </a:rPr>
              <a:t>DEV: 2024-04-01 đến trước 2025-10-22  ·  giờ Asia/Ho_Chi_Minh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0B4C27-0FE6-4B0B-8876-0CAE64B5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34025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Phân tích dùng giao dịch hợp lệ trong giai đoạn hoạt động của cửa hàng.</a:t>
            </a:r>
          </a:p>
        </p:txBody>
      </p:sp>
    </p:spTree>
    <p:extLst>
      <p:ext uri="{BB962C8B-B14F-4D97-AF65-F5344CB8AC3E}">
        <p14:creationId xmlns:p14="http://schemas.microsoft.com/office/powerpoint/2010/main" val="12569280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60AC8F-E7C5-42FA-ACDE-D4064FD8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287F4D-E4CC-42E2-89B4-D9E863E5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LƯU TRỮ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2A7729-FF02-41BE-891F-1D71D07B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Từ dữ liệu nguồn đến kết quả phân tích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3167E2-7797-4C25-9F95-52510752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A5344-C0ED-4DD0-83CE-F4A39D44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EEA858-F6EB-4C5E-A7EE-1E93CF88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7CBE84-B365-4D6D-B69F-D8480740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14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DỮ LIỆU NGUỒN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4D709E-4A09-468A-BFA7-D35444E7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33650"/>
            <a:ext cx="276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2E8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70F313-883C-4FC3-9A92-2214A044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Đơn · khách · sản phẩm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45F2D5-B857-4AE0-B051-11563712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67075"/>
            <a:ext cx="295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Pancake POS</a:t>
            </a:r>
          </a:p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Dữ liệu giao dịch</a:t>
            </a:r>
          </a:p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Nguồn đầu vào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0B078E-2DF1-4C3E-B669-0BA123AD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14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KHO PHÂN TÍCH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25B7A7-4C34-476A-A5F5-FFCEE0D6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33650"/>
            <a:ext cx="276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F0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529B5A-F557-4B22-80F9-F24AAAD7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24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DuckDB · HMAC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8C76AB-1D3B-4683-8357-B9C8B6F6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67075"/>
            <a:ext cx="295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Lưu trữ có kiểm soát</a:t>
            </a:r>
          </a:p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Python · Pandas</a:t>
            </a:r>
          </a:p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Tạo feature và chỉ số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25763C-58E6-4BB6-BDC7-377DB89D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14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38A9D9-97D8-434A-A50D-BC22D682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33650"/>
            <a:ext cx="276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5EE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625FEA-16B0-4F8A-8B9F-AB8FD4D2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24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Dashboard · PDF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B87814-1BA7-4C64-98CF-C3CB7952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67075"/>
            <a:ext cx="295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Chỉ số tổng hợp</a:t>
            </a:r>
          </a:p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Trình bày kết quả</a:t>
            </a:r>
          </a:p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Sản phẩm phân tích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F2DE32-E8F6-447E-851D-75E282AF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00625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14633"/>
                </a:solidFill>
                <a:latin typeface="Arial"/>
                <a:ea typeface="Arial"/>
                <a:cs typeface="Arial"/>
              </a:rPr>
              <a:t>Định danh được thay bằng mã giả danh trong kho phân tích.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C83B16-E272-411A-83B2-4669C996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Dashboard trình bày bảng tổng hợp đã chuẩn hóa.</a:t>
            </a:r>
          </a:p>
        </p:txBody>
      </p:sp>
    </p:spTree>
    <p:extLst>
      <p:ext uri="{BB962C8B-B14F-4D97-AF65-F5344CB8AC3E}">
        <p14:creationId xmlns:p14="http://schemas.microsoft.com/office/powerpoint/2010/main" val="19843670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035641-6ACC-4581-80D0-7C6AF056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D8369-B91C-4FA5-ADF5-D47312C5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KẾT QUẢ MÔ TẢ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94F31A-044C-4906-B326-F440A46D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Giá trị khách hàng trong 180 ngày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6245BE-6C79-4BEA-BE90-FA102180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97049-1F6C-4FE1-8718-FEDD5611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A96408-B200-4A76-8CF1-B3D5D384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66E68B-5D30-4CC7-90F9-43B77AFC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85925"/>
            <a:ext cx="1033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Retention theo định nghĩa có giao dịch vào ngày sau ngày mua đầu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8671F4-81B7-42C6-B450-7EEE0A1E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5,64%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50B8E6-36E5-41DF-A644-17E4F8CB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30 ngày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9D6024-05B4-49E2-AC92-076F19A3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86175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8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D4E15D-7CF1-4E3E-96B4-0E2F8719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619375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7,19%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7D26E-DCC8-48D7-99A4-7FDD3EA0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2194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60 ngày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AAE0A7-113D-4900-9070-0C2E9D7A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686175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8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D0C4C4-3F2A-4E77-A268-71358706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619375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8,43%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501ACB-2759-4E44-9488-515A8B65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2194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90 ngày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08B88C-9BD9-4C6B-994D-76FBD4F6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686175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8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6FA1F4-7B0C-48EA-B940-FE8D9C38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2619375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ctr">
              <a:defRPr sz="23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ctr">
              <a:defRPr sz="23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ctr">
              <a:defRPr sz="23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ctr">
              <a:defRPr sz="23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ctr">
              <a:defRPr sz="23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ctr">
              <a:defRPr sz="23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ctr">
              <a:defRPr sz="23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ctr">
              <a:defRPr sz="23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ctr">
              <a:defRPr sz="23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10,40%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BE73AA-6545-46D9-A611-15394EE1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2194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180 ngày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399F28-E0EF-49A3-97E9-34EA3ED3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686175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3A64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1D0369-A59C-4BB9-AF45-85DFCD97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71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7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10,40%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8B1470-CCEF-4DC0-813E-0DE3A380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33750"/>
            <a:ext cx="323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khách mua lại</a:t>
            </a:r>
          </a:p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3.508 khách theo dõi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E0DE1C-C7F6-4328-A3DD-A861875E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24375"/>
            <a:ext cx="333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93"/>
          </a:bodyPr>
          <a:lstStyle xmlns:a="http://schemas.openxmlformats.org/drawingml/2006/main">
            <a:def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CLV mô tả 180 ngày: 512.934₫/khách</a:t>
            </a:r>
          </a:p>
          <a:p xmlns:a="http://schemas.openxmlformats.org/drawingml/2006/main">
            <a:pPr algn="l">
              <a:defRPr sz="16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CLV là doanh thu lịch sử, không phải dự báo hay lợi nhuận.</a:t>
            </a:r>
          </a:p>
        </p:txBody>
      </p:sp>
    </p:spTree>
    <p:extLst>
      <p:ext uri="{BB962C8B-B14F-4D97-AF65-F5344CB8AC3E}">
        <p14:creationId xmlns:p14="http://schemas.microsoft.com/office/powerpoint/2010/main" val="10747781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4FF51-A922-47C8-9B7F-BA8DF46D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98EF87-2243-4E98-B2D9-60A18EEF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PHÂN KHÚC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A6C350-C567-4D12-B7B1-4B827C4C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Phân khúc khách hàng theo RFM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4F969-A556-4D5E-B19B-CD366E03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75794E-3813-47FC-8269-35DEA583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74BE3E-2EC1-4E39-AD75-E3D2ED73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0E286A-0E7E-454F-9900-4EA0279D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1907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4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RFM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73557D-FCB3-4A98-9DA7-689C7D57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7655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Recency  ·  Frequency  ·  Monetary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3716EF-576F-4208-866B-9DE661F9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524250"/>
            <a:ext cx="5191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8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54CC6-C498-4633-901F-4623A320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671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K-Means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CE5293-1897-42A4-8D3F-6D7F7F99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19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K=2  |  silhouette 0,508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E66122-5D65-4BF2-97DF-5617DA59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38375"/>
            <a:ext cx="4095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C"/>
          </a:solidFill>
          <a:ln xmlns:a="http://schemas.openxmlformats.org/drawingml/2006/main" w="9525">
            <a:solidFill>
              <a:srgbClr val="CA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C92291-0BF5-4B52-A52A-AB9A076A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574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87,5%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2880C2-6AB6-4280-90FD-0C1A7570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28875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4.526 / 5.174 khách DEV</a:t>
            </a:r>
          </a:p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mua một lần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4AD4E3-28F6-4984-91AD-3A9EC0F8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14750"/>
            <a:ext cx="4095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EF2"/>
          </a:solidFill>
          <a:ln xmlns:a="http://schemas.openxmlformats.org/drawingml/2006/main" w="9525">
            <a:solidFill>
              <a:srgbClr val="CAD8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0E43A3-312D-46CA-B7F8-FE5F8673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33825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87,6%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5A56C8-0560-42E7-A26D-0E59CCF9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052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4.530 / 5.169 khách scoring</a:t>
            </a:r>
          </a:p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mua một lần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6DB7DD-7FAD-4554-8991-0BE59866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476875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A14633"/>
                </a:solidFill>
                <a:latin typeface="Arial"/>
                <a:ea typeface="Arial"/>
                <a:cs typeface="Arial"/>
              </a:rPr>
              <a:t>K=2 cho thấy hai nhóm mô tả theo tần suất mua: một lần và mua lặp lại.</a:t>
            </a:r>
          </a:p>
        </p:txBody>
      </p:sp>
    </p:spTree>
    <p:extLst>
      <p:ext uri="{BB962C8B-B14F-4D97-AF65-F5344CB8AC3E}">
        <p14:creationId xmlns:p14="http://schemas.microsoft.com/office/powerpoint/2010/main" val="6491392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1D205B-5949-443A-993D-F62D0116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53F217-84AF-4320-A911-3D5E539C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MÔ HÌNH MUA LẠI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E7D604-870C-4033-ACD6-BD26A646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Xếp hạng khả năng mua lại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62A0B6-0A5B-4213-B73D-DE27DDA2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7449F-25AD-458B-8ED1-7929840D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6C1EB0-CC27-4900-9DFA-E24DB88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A1CD59-F6EB-4F0C-974A-328FC2D27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RFM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1C236B-CDFA-4119-9583-F030B036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861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Đầu vào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4D3DE5-18A4-4194-B760-EB0B4382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860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A14633"/>
                </a:solidFill>
                <a:latin typeface="Arial"/>
                <a:ea typeface="Arial"/>
                <a:cs typeface="Arial"/>
              </a:rPr>
              <a:t>Logistic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D42013-2294-4CB1-9DB7-4B586804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861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Mô hình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4C13EE-DE74-42D4-9375-C73064BA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4337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3A64B"/>
                </a:solidFill>
                <a:latin typeface="Arial"/>
                <a:ea typeface="Arial"/>
                <a:cs typeface="Arial"/>
              </a:rPr>
              <a:t>180 ngày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DB8AE8-DF1E-45F3-86E9-D292DED3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434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Khoảng dự báo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557A36-8288-41B4-8C33-52B0C7D6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95550"/>
            <a:ext cx="3095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9EF41-B9CB-4B32-8040-810B290F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95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fold thời gian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A6F6B-A832-423B-BCFF-F6653C62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14775"/>
            <a:ext cx="3095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trước 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54D464-780D-477B-8F24-F238EECF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không rò rỉ tương lai</a:t>
            </a:r>
          </a:p>
        </p:txBody>
      </p:sp>
    </p:spTree>
    <p:extLst>
      <p:ext uri="{BB962C8B-B14F-4D97-AF65-F5344CB8AC3E}">
        <p14:creationId xmlns:p14="http://schemas.microsoft.com/office/powerpoint/2010/main" val="5822903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C68C3E-674A-4511-92B0-901C291E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B01417-B6D5-40FF-B27A-9E0AD99D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PHƯƠNG PHÁP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D39A4F-B6C0-4B98-996B-391339A3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Tạo đặc trưng và nhãn mua lại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60312D-0C67-4101-A86A-E60ADDC5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B85CFB-92D4-4BD8-A4E5-592296C5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787174-3895-4941-83AF-EAC111AB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D4255-4EF5-48F0-AA03-7950FA3C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90750"/>
            <a:ext cx="495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E3A64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376A0-E03F-46AC-9953-2CFB0958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2479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Đặc trưng trước 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795CD3-EB72-4376-86C4-28743C6E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771775"/>
            <a:ext cx="2476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RFM, giá trị đơn và nhịp mua từ lịch sử trước 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3242E5-A7F2-4790-8D6C-7F8D76419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857625"/>
            <a:ext cx="2562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8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977A18-4CFB-4D5B-A836-CD08E621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90750"/>
            <a:ext cx="495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E3A64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F32565-A513-4FF9-8662-29B4C285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2479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Nhãn mua lại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679441-6574-4276-B342-131461C0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771775"/>
            <a:ext cx="2476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Có đơn hợp lệ trong 180 ngày sau 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0C7246-0FC2-4DF7-BC3D-83E5C7A3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857625"/>
            <a:ext cx="2562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8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233EF0-B240-441C-B267-F56B8D31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495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E3A64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1BFDD0-A837-4E3D-A6A5-D707CD18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47900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Đánh giá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77E91D-CF6A-4F54-8303-C44A4A3D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771775"/>
            <a:ext cx="2476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So sánh theo các mốc thời gian, tránh trộn quá khứ và tương lai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8F511A-164B-4774-A26C-84DA32A6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76750"/>
            <a:ext cx="10239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8E1"/>
          </a:solidFill>
          <a:ln xmlns:a="http://schemas.openxmlformats.org/drawingml/2006/main" w="9525">
            <a:solidFill>
              <a:srgbClr val="E6C5B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055C4C-C0C9-453D-99E9-BF462C02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482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A14633"/>
                </a:solidFill>
                <a:latin typeface="Arial"/>
                <a:ea typeface="Arial"/>
                <a:cs typeface="Arial"/>
              </a:rPr>
              <a:t>Nguyên tắc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12C9BD-EC7F-4EE2-83AD-F8124044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4825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Mọi feature chỉ dùng thông tin đã có trước thời điểm dự đoán.</a:t>
            </a:r>
          </a:p>
        </p:txBody>
      </p:sp>
    </p:spTree>
    <p:extLst>
      <p:ext uri="{BB962C8B-B14F-4D97-AF65-F5344CB8AC3E}">
        <p14:creationId xmlns:p14="http://schemas.microsoft.com/office/powerpoint/2010/main" val="2016783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DA052D-7D50-4CA4-9770-EBECF1E2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10A05A-05B7-4B3E-9A45-1300F52B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GIỎ HÀNG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91A319-E6B4-4F21-AC2B-8B35C1DA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Tìm sản phẩm thường xuất hiện cùng giỏ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602756-08BC-4D9A-B57F-D4716AE3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D6715C-82EB-4DCF-8664-EF081DD4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B9CB83-0019-4B7D-B1DB-101AF6A1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F5A84F-F9CA-428F-8A4C-29E9DCFA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1937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FP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C3DEA8-3491-4C0B-98CE-E3823DB0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8612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FP-Growth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090968-3139-447D-9564-B25E5905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1937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SUP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418A45-1F69-41D5-8F2F-28B24F54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86125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CONF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3F849-5A96-41CB-8823-BDC6DB1AC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910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3A64B"/>
                </a:solidFill>
                <a:latin typeface="Arial"/>
                <a:ea typeface="Arial"/>
                <a:cs typeface="Arial"/>
              </a:rPr>
              <a:t>LIFT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AA23C9-D548-4294-8B1F-CE920C98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so với mức đồng xuất hiện nền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67A9BA-56B8-4190-9410-E3ABAE6B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2887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Support · confidence · lift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B9075D-A3CD-4845-8CE6-2B555E82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0375"/>
            <a:ext cx="3524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Các thước đo xếp hạng cặp sản phẩm có xu hướng cùng xuất hiện trong giỏ.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A17AE8-8FE8-406A-AC40-72B4A3AA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33875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A14633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94A5B2-A2D4-40E8-898A-EB307802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29175"/>
            <a:ext cx="352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Tạo giả thuyết bundle hoặc trưng bày để cửa hàng cân nhắc.</a:t>
            </a:r>
          </a:p>
        </p:txBody>
      </p:sp>
    </p:spTree>
    <p:extLst>
      <p:ext uri="{BB962C8B-B14F-4D97-AF65-F5344CB8AC3E}">
        <p14:creationId xmlns:p14="http://schemas.microsoft.com/office/powerpoint/2010/main" val="3037822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6BE73C-38C8-47B8-B25A-44261FD2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F92524-FF91-48BB-9798-F29E109B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KẾT QUẢ GIỎ HÀNG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AB49E-4A09-42D3-9672-69A3C413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Các cặp sản phẩm gợi ý cách kết hợp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548263-971D-4E1F-8ADC-7E1D47E1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C03591-DAFE-4C73-AFD3-2D3A0221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907CF7-0446-4D96-A4E5-CF96AC13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FB47F5-79FB-44A0-A700-94B110F6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Đầu vào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150CB-9D87-4070-A733-27180C248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194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64B"/>
          </a:solidFill>
          <a:ln xmlns:a="http://schemas.openxmlformats.org/drawingml/2006/main" w="9525">
            <a:solidFill>
              <a:srgbClr val="E3A6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6DE261-1BFB-4C38-85AF-6B3D01AA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24150"/>
            <a:ext cx="5067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Đơn hàng và dòng sản phẩm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AD3C7E-EF91-42DF-989C-96BE564A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671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64B"/>
          </a:solidFill>
          <a:ln xmlns:a="http://schemas.openxmlformats.org/drawingml/2006/main" w="9525">
            <a:solidFill>
              <a:srgbClr val="E3A64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836AE-CB23-418D-AE74-6D9E60BF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71850"/>
            <a:ext cx="5067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Giỏ hàng hợp lệ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E030A7-076E-4C0D-97ED-711B808C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64B"/>
          </a:solidFill>
          <a:ln xmlns:a="http://schemas.openxmlformats.org/drawingml/2006/main" w="9525">
            <a:solidFill>
              <a:srgbClr val="E3A6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B2FED8-A9CF-44C3-9071-9DC79308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5067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Thuật toán FP-Growth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61F6B0-3965-4ABD-A182-E81699AD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625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64B"/>
          </a:solidFill>
          <a:ln xmlns:a="http://schemas.openxmlformats.org/drawingml/2006/main" w="9525">
            <a:solidFill>
              <a:srgbClr val="E3A6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93AE23-4EB5-473E-8363-702A507C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67250"/>
            <a:ext cx="5067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Support, confidence và lift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44C9FE-4E23-4BEA-BD0F-B31C73EC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0" cy="3295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8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EEB0FC-2475-455F-93F9-97A70A16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479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3ADFCB-5FD3-417D-AAC4-318BE9B9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857500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Các cặp sản phẩm được xếp hạng theo tần suất và mức độ đồng xuất hiện trong giỏ.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98FFC1-F8C3-46E9-83A4-4FA34D36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66725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3A64B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BBAFF5-F1A8-4F30-8C7A-96C1502E2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14350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931"/>
          </a:bodyPr>
          <a:lstStyle xmlns:a="http://schemas.openxmlformats.org/drawingml/2006/main">
            <a:def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Kết quả giúp hình thành giả thuyết bundle hoặc gợi ý trưng bày sản phẩm.</a:t>
            </a:r>
          </a:p>
        </p:txBody>
      </p:sp>
    </p:spTree>
    <p:extLst>
      <p:ext uri="{BB962C8B-B14F-4D97-AF65-F5344CB8AC3E}">
        <p14:creationId xmlns:p14="http://schemas.microsoft.com/office/powerpoint/2010/main" val="17234421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39554B-829A-4F89-8456-1EE80133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4067F8-0A0D-45FC-A027-0B2E35D7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SẢN PHẨM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D23900-96D7-49A7-AF4C-E0F1A47C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Dashboard kết quả phân tích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FC438-6262-4412-9E7E-941A9F38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24CD0E-465E-4B8F-8050-CDE024C6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9BBCD-89C2-4DCE-8A8C-A4B5209B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3758C-EDED-4201-8D5F-2A3C3BB2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76450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3A64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FBBC5-655D-4636-B6C5-E05CF758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07645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Tổng quan doanh số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CC3CCB-C2CD-4D27-8EE9-A61C43D4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90800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E10F75-4A26-4D5A-8EE5-AC221E86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71800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3A64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339F7B-6B19-4D7B-8215-64BFAD77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97180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Phân khúc khách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B6F1ED-9EAC-4E9D-9CDF-E3049C26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86150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8286D8-E98A-4C6C-A346-EDDF067C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3A64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3DAFE1-8438-40FD-AA12-3B5A15CA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86715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Combo gợi 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6FC33A-6130-48BB-9643-B5249A69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81500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E8A9EA-FFFC-4B02-8681-46B03352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76450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3A64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AB232C-F431-421A-A7F0-C3A8CA82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07645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Chất lượng &amp; kiểm toán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6C5175-2F1E-4E58-A20C-9DEAFE17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590800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B38DE7-579A-4AF2-8E2E-A25AD0D7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971800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E3A64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3A64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4B1F9C-7F8E-4039-95C2-9C6DCFCB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971800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Mô hình mua lại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36C890-CC9E-4104-8B2C-358D0842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486150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95A441-5F02-473B-B072-C29FCFC8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Tổng quan doanh số · Phân khúc khách · Combo gợi ý · Chất lượng dữ liệu · Mô hình mua lại</a:t>
            </a:r>
          </a:p>
        </p:txBody>
      </p:sp>
    </p:spTree>
    <p:extLst>
      <p:ext uri="{BB962C8B-B14F-4D97-AF65-F5344CB8AC3E}">
        <p14:creationId xmlns:p14="http://schemas.microsoft.com/office/powerpoint/2010/main" val="6342381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902180-CEC3-469F-B1AA-BAA09D1F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BE011C-B83D-439D-926C-74FED8BF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SẢN PHẨM DỰ ÁN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AC68C8-E489-4E66-8503-5C8FF64E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Kết quả được trình bày qua bốn phần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417D8D-A649-4B63-A4CD-018AD032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4113F9-EC5D-44CC-832C-E705F97C2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BD590-A4EF-4BEE-AC88-1CAFAAB8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9C467B-27C7-443C-A4B8-E2C00355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4ECFFC-2439-4E74-ABE9-72899947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Giao dịch, khách hàng và sản phẩm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5ED09D-2AAD-4563-B3E2-2D28C7E1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552700"/>
            <a:ext cx="985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8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7156C-082B-4169-943F-4DA8FD46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95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Phân tích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656ABA-5BC7-4E62-B438-19A77558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95600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Xu hướng bán hàng, retention, CLV và RFM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9AC2F-FACB-430E-8CCF-6D35B7F7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448050"/>
            <a:ext cx="985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F10ED4-EE80-470C-ABC4-784ECF20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90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ML và giỏ hàng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A6E7FE-216A-4589-9D81-A03D9098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90950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Logistic Regression và FP-Growth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228044-44D8-4860-8211-0235F297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343400"/>
            <a:ext cx="985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8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322B61-EB4D-4975-AE5B-12C2DC99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863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Trình bày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0441B9-4D58-45CF-9D0B-ED8164A9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86300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Dashboard, báo cáo và slide thuyết trình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82F35E-C293-4409-A602-B437087F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38750"/>
            <a:ext cx="985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8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A537AC-A692-4CE4-8FAE-3BD1FEC9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Kết quả giúp hiểu hoạt động bán hàng và hình thành giả thuyết tiếp theo.</a:t>
            </a:r>
          </a:p>
        </p:txBody>
      </p:sp>
    </p:spTree>
    <p:extLst>
      <p:ext uri="{BB962C8B-B14F-4D97-AF65-F5344CB8AC3E}">
        <p14:creationId xmlns:p14="http://schemas.microsoft.com/office/powerpoint/2010/main" val="5175397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3E2813-1232-4032-B208-BA93A6E5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D36"/>
          </a:solidFill>
          <a:ln xmlns:a="http://schemas.openxmlformats.org/drawingml/2006/main" w="9525">
            <a:solidFill>
              <a:srgbClr val="183D3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4DC345-C31B-45DA-B83A-3709261A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6B87"/>
                </a:solidFill>
                <a:latin typeface="Arial"/>
                <a:ea typeface="Arial"/>
                <a:cs typeface="Arial"/>
              </a:rPr>
              <a:t>DEMO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D86CEC-51B2-4EED-BEF7-C1385CCC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Từ tổng quan đến gợi ý sản phẩm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680B55-25C9-44CD-AB64-AEE33385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23B03A-C873-42EB-9184-C4E9AA17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1736D"/>
                </a:solidFill>
                <a:latin typeface="Arial"/>
                <a:ea typeface="Arial"/>
                <a:cs typeface="Arial"/>
              </a:rPr>
              <a:t>Xoaif Garden  |  Kho &amp; Khai phá dữ liệu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54A823-3BD7-4D0A-A6D6-FFEF7D7A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6173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1736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075FD-1A6A-411A-B796-CE9AC8B8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01  Tổng quan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EC7DCF-A7AF-4529-8690-ECA676F3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43125"/>
            <a:ext cx="704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Doanh số và xu hướng theo tháng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E3E153-C247-41D3-8FE1-1F227BDA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0987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BEDD63-513F-4B2F-B486-C48191D9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3372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02  Phân khúc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323CAF-AB42-4733-B0E2-8ADA6BC0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33725"/>
            <a:ext cx="704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Cơ cấu khách theo hành vi mua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1E3CB6-1D5C-4DB9-934E-052C69A1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0047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6E52D1-D94C-4E2F-A020-FB2A9B0E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2432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83D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D36"/>
                </a:solidFill>
                <a:latin typeface="Arial"/>
                <a:ea typeface="Arial"/>
                <a:cs typeface="Arial"/>
              </a:rPr>
              <a:t>03  Combo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4FF3B9-96A8-4A69-B08E-5F6F5154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124325"/>
            <a:ext cx="704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4332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32F"/>
                </a:solidFill>
                <a:latin typeface="Arial"/>
                <a:ea typeface="Arial"/>
                <a:cs typeface="Arial"/>
              </a:rPr>
              <a:t>Sản phẩm thường xuất hiện cùng giỏ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116C32-A70B-4693-8EDB-21B3800B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9107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AD8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6C21E4-D82D-4281-A172-EB9C7F36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1020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A1463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A14633"/>
                </a:solidFill>
                <a:latin typeface="Arial"/>
                <a:ea typeface="Arial"/>
                <a:cs typeface="Arial"/>
              </a:rPr>
              <a:t>Demo tập trung vào kết quả phân tích và cách đọc từng tab dashboard.</a:t>
            </a:r>
          </a:p>
        </p:txBody>
      </p:sp>
    </p:spTree>
    <p:extLst>
      <p:ext uri="{BB962C8B-B14F-4D97-AF65-F5344CB8AC3E}">
        <p14:creationId xmlns:p14="http://schemas.microsoft.com/office/powerpoint/2010/main" val="4523822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83D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FDE8D4-1E56-4D0A-9E37-3C32DB5E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9DED5"/>
                </a:solidFill>
                <a:latin typeface="Arial"/>
                <a:ea typeface="Arial"/>
                <a:cs typeface="Arial"/>
              </a:rPr>
              <a:t>KẾT LUẬN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5A5C7B-956A-4D99-8F26-1EFFC411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90625"/>
            <a:ext cx="10287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Phân tích khách và sản phẩm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Kết quả mô tả hành vi mua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C37B19-CBDF-4839-BD59-0D0C642D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3A9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27D69B-3C88-44F6-A80C-A6A5B6C6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381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9DED5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EF3847-859F-44B0-BF4A-008E3C05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81425"/>
            <a:ext cx="1019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Retention · CLV mô tả · phân khúc RFM · cặp sản phẩm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6F3DBB-FE96-4A8F-8212-46398BE7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C9DED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9DED5"/>
                </a:solidFill>
                <a:latin typeface="Arial"/>
                <a:ea typeface="Arial"/>
                <a:cs typeface="Arial"/>
              </a:rPr>
              <a:t>Sản phẩm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E37EA-C9CB-4E4E-94FB-5C7333FDA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019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Dashboard · báo cáo · slide trình bày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E48F74-8E18-47D8-A561-5230B1BF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C9DED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9DED5"/>
                </a:solidFill>
                <a:latin typeface="Arial"/>
                <a:ea typeface="Arial"/>
                <a:cs typeface="Arial"/>
              </a:rPr>
              <a:t>Cảm ơn. Mời thầy/cô đặt câu hỏi.</a:t>
            </a:r>
          </a:p>
        </p:txBody>
      </p:sp>
    </p:spTree>
    <p:extLst>
      <p:ext uri="{BB962C8B-B14F-4D97-AF65-F5344CB8AC3E}">
        <p14:creationId xmlns:p14="http://schemas.microsoft.com/office/powerpoint/2010/main" val="17813488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2026-10-28T18:37:54.9300000Z</dcterms:created>
  <dcterms:modified xsi:type="dcterms:W3CDTF">2026-10-28T18:37:54.9300000Z</dcterms:modified>
</coreProperties>
</file>